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c07db202304992" /><Relationship Type="http://schemas.openxmlformats.org/officeDocument/2006/relationships/extended-properties" Target="/docProps/app.xml" Id="Rd67d0ad1c73746f4" /><Relationship Type="http://schemas.openxmlformats.org/officeDocument/2006/relationships/officeDocument" Target="/ppt/presentation.xml" Id="R1348db32713444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554b928b1c4336"/>
  </p:sldMasterIdLst>
  <p:notesMasterIdLst>
    <p:notesMasterId xmlns:r="http://schemas.openxmlformats.org/officeDocument/2006/relationships" r:id="R097eebec34b3439c"/>
  </p:notesMasterIdLst>
  <p:sldIdLst>
    <p:sldId xmlns:r="http://schemas.openxmlformats.org/officeDocument/2006/relationships" id="256" r:id="Re1fedc1a8f30469c"/>
    <p:sldId xmlns:r="http://schemas.openxmlformats.org/officeDocument/2006/relationships" id="257" r:id="R28935b930e6b4d85"/>
    <p:sldId xmlns:r="http://schemas.openxmlformats.org/officeDocument/2006/relationships" id="258" r:id="Rc18950b33217467e"/>
    <p:sldId xmlns:r="http://schemas.openxmlformats.org/officeDocument/2006/relationships" id="259" r:id="R957fbe52e53648cd"/>
    <p:sldId xmlns:r="http://schemas.openxmlformats.org/officeDocument/2006/relationships" id="260" r:id="Rafb104e1f6514149"/>
    <p:sldId xmlns:r="http://schemas.openxmlformats.org/officeDocument/2006/relationships" id="261" r:id="R4a3712fe0f3d449f"/>
    <p:sldId xmlns:r="http://schemas.openxmlformats.org/officeDocument/2006/relationships" id="262" r:id="Rd9aee5c7e10347bb"/>
    <p:sldId xmlns:r="http://schemas.openxmlformats.org/officeDocument/2006/relationships" id="263" r:id="R96659190cd46426d"/>
    <p:sldId xmlns:r="http://schemas.openxmlformats.org/officeDocument/2006/relationships" id="264" r:id="Rbc3963e366314d6c"/>
    <p:sldId xmlns:r="http://schemas.openxmlformats.org/officeDocument/2006/relationships" id="265" r:id="R46ffc2724b0543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8d9eb8e38c4752" /><Relationship Type="http://schemas.openxmlformats.org/officeDocument/2006/relationships/slideMaster" Target="/ppt/slideMasters/slideMaster1.xml" Id="R57554b928b1c4336" /><Relationship Type="http://schemas.openxmlformats.org/officeDocument/2006/relationships/notesMaster" Target="/ppt/notesMasters/notesMaster1.xml" Id="R097eebec34b3439c" /><Relationship Type="http://schemas.openxmlformats.org/officeDocument/2006/relationships/presProps" Target="/ppt/presProps.xml" Id="Rea1422240be44e25" /><Relationship Type="http://schemas.openxmlformats.org/officeDocument/2006/relationships/tableStyles" Target="/ppt/tableStyles.xml" Id="Rf559acc1d2d645ff" /><Relationship Type="http://schemas.openxmlformats.org/officeDocument/2006/relationships/slide" Target="/ppt/slides/slide1.xml" Id="Re1fedc1a8f30469c" /><Relationship Type="http://schemas.openxmlformats.org/officeDocument/2006/relationships/slide" Target="/ppt/slides/slide2.xml" Id="R28935b930e6b4d85" /><Relationship Type="http://schemas.openxmlformats.org/officeDocument/2006/relationships/slide" Target="/ppt/slides/slide3.xml" Id="Rc18950b33217467e" /><Relationship Type="http://schemas.openxmlformats.org/officeDocument/2006/relationships/slide" Target="/ppt/slides/slide4.xml" Id="R957fbe52e53648cd" /><Relationship Type="http://schemas.openxmlformats.org/officeDocument/2006/relationships/slide" Target="/ppt/slides/slide5.xml" Id="Rafb104e1f6514149" /><Relationship Type="http://schemas.openxmlformats.org/officeDocument/2006/relationships/slide" Target="/ppt/slides/slide6.xml" Id="R4a3712fe0f3d449f" /><Relationship Type="http://schemas.openxmlformats.org/officeDocument/2006/relationships/slide" Target="/ppt/slides/slide7.xml" Id="Rd9aee5c7e10347bb" /><Relationship Type="http://schemas.openxmlformats.org/officeDocument/2006/relationships/slide" Target="/ppt/slides/slide8.xml" Id="R96659190cd46426d" /><Relationship Type="http://schemas.openxmlformats.org/officeDocument/2006/relationships/slide" Target="/ppt/slides/slide9.xml" Id="Rbc3963e366314d6c" /><Relationship Type="http://schemas.openxmlformats.org/officeDocument/2006/relationships/slide" Target="/ppt/slides/slide10.xml" Id="R46ffc2724b05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975774f48f4e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a91b54aeda49ac" /><Relationship Type="http://schemas.openxmlformats.org/officeDocument/2006/relationships/notesMaster" Target="/ppt/notesMasters/notesMaster1.xml" Id="Rd8f317e4da644c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a5a5d846e94680" /><Relationship Type="http://schemas.openxmlformats.org/officeDocument/2006/relationships/notesMaster" Target="/ppt/notesMasters/notesMaster1.xml" Id="R87618d6c2c7b48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a180bab89c4660" /><Relationship Type="http://schemas.openxmlformats.org/officeDocument/2006/relationships/notesMaster" Target="/ppt/notesMasters/notesMaster1.xml" Id="R2698326b33084b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9c8a9588634599" /><Relationship Type="http://schemas.openxmlformats.org/officeDocument/2006/relationships/notesMaster" Target="/ppt/notesMasters/notesMaster1.xml" Id="R57dcad703faa4e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40449a280242b2" /><Relationship Type="http://schemas.openxmlformats.org/officeDocument/2006/relationships/notesMaster" Target="/ppt/notesMasters/notesMaster1.xml" Id="R191485016f3b45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d1d13300814873" /><Relationship Type="http://schemas.openxmlformats.org/officeDocument/2006/relationships/notesMaster" Target="/ppt/notesMasters/notesMaster1.xml" Id="R7cfde9be8dc14e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e597825c9a4966" /><Relationship Type="http://schemas.openxmlformats.org/officeDocument/2006/relationships/notesMaster" Target="/ppt/notesMasters/notesMaster1.xml" Id="Ra1c7480510dc4d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204b0687dd4df7" /><Relationship Type="http://schemas.openxmlformats.org/officeDocument/2006/relationships/notesMaster" Target="/ppt/notesMasters/notesMaster1.xml" Id="R0dcf3739423246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257dbf0d754ba8" /><Relationship Type="http://schemas.openxmlformats.org/officeDocument/2006/relationships/notesMaster" Target="/ppt/notesMasters/notesMaster1.xml" Id="Ra8d98110269e49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7f00b06e354ebb" /><Relationship Type="http://schemas.openxmlformats.org/officeDocument/2006/relationships/notesMaster" Target="/ppt/notesMasters/notesMaster1.xml" Id="R67eaf860b4c340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문장: ‘저희는 화면 시안에 머무르지 않고, 회원가입부터 재배 기록까지 실제 데이터가 흐르는 중간 결과물을 만들었습니다.’</a:t>
            </a:r>
          </a:p>
          <a:p xmlns:a="http://schemas.openxmlformats.org/drawingml/2006/main">
            <a:r>
              <a:t>발표의 기준은 기능 개수가 아니라 핵심 사용자 여정의 연결 여부라고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frontend/package.json</a:t>
            </a:r>
          </a:p>
          <a:p xmlns:a="http://schemas.openxmlformats.org/drawingml/2006/main">
            <a:r>
              <a:t>- backend/composer.json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진행률을 임의 퍼센트로 말하지 않고, 실제 라우트·API·테이블·테스트 수로 제시한다.</a:t>
            </a:r>
          </a:p>
          <a:p xmlns:a="http://schemas.openxmlformats.org/drawingml/2006/main">
            <a:r>
              <a:t>‘완성’이 아니라 ‘핵심 흐름이 연결된 중간 단계’라는 표현을 유지한다.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frontend/app/**/page.tsx</a:t>
            </a:r>
          </a:p>
          <a:p xmlns:a="http://schemas.openxmlformats.org/drawingml/2006/main">
            <a:r>
              <a:t>- backend/routes/api.php</a:t>
            </a:r>
          </a:p>
          <a:p xmlns:a="http://schemas.openxmlformats.org/drawingml/2006/main">
            <a:r>
              <a:t>- backend/database/migrations</a:t>
            </a:r>
          </a:p>
          <a:p xmlns:a="http://schemas.openxmlformats.org/drawingml/2006/main">
            <a:r>
              <a:t>- php artisan test</a:t>
            </a:r>
          </a:p>
          <a:p xmlns:a="http://schemas.openxmlformats.org/drawingml/2006/main">
            <a:r>
              <a:t>- npm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프론트에서 DB를 직접 건드리지 않고 Laravel API만 호출하도록 경계를 설명한다.</a:t>
            </a:r>
          </a:p>
          <a:p xmlns:a="http://schemas.openxmlformats.org/drawingml/2006/main">
            <a:r>
              <a:t>버전 필드와 If-Match는 동시에 같은 데이터를 수정했을 때 덮어쓰기를 막는 장치라고 쉽게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frontend/shared/infrastructure/api-client.ts</a:t>
            </a:r>
          </a:p>
          <a:p xmlns:a="http://schemas.openxmlformats.org/drawingml/2006/main">
            <a:r>
              <a:t>- backend/routes/api.php</a:t>
            </a:r>
          </a:p>
          <a:p xmlns:a="http://schemas.openxmlformats.org/drawingml/2006/main">
            <a:r>
              <a:t>- backend/database/migrations</a:t>
            </a:r>
          </a:p>
          <a:p xmlns:a="http://schemas.openxmlformats.org/drawingml/2006/main">
            <a:r>
              <a:t>- docs/DEVELOPMENT.md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이름을 나열하기보다 사용자 행동 단위로 네 묶음만 설명한다.</a:t>
            </a:r>
          </a:p>
          <a:p xmlns:a="http://schemas.openxmlformats.org/drawingml/2006/main">
            <a:r>
              <a:t>디자인 통일 작업과 버튼 가독성, 회원가입 피드백 개선도 빈 상태/상태 표현에 포함된다.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frontend/app</a:t>
            </a:r>
          </a:p>
          <a:p xmlns:a="http://schemas.openxmlformats.org/drawingml/2006/main">
            <a:r>
              <a:t>- frontend/features</a:t>
            </a:r>
          </a:p>
          <a:p xmlns:a="http://schemas.openxmlformats.org/drawingml/2006/main">
            <a:r>
              <a:t>- frontend/shared</a:t>
            </a:r>
          </a:p>
          <a:p xmlns:a="http://schemas.openxmlformats.org/drawingml/2006/main">
            <a:r>
              <a:t>- frontend/package.json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CRUD만 만든 것이 아니라 소유권, 중복, 기간 겹침, 시즌 범위, 배치 존재 여부 같은 업무 제약을 서버가 보장한다고 강조한다.</a:t>
            </a:r>
          </a:p>
          <a:p xmlns:a="http://schemas.openxmlformats.org/drawingml/2006/main">
            <a:r>
              <a:t>마이그레이션이 팀원의 phpMyAdmin 수작업을 대체하는 공통 DB 설계도임을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backend/app/Http/Controllers/Api/V1</a:t>
            </a:r>
          </a:p>
          <a:p xmlns:a="http://schemas.openxmlformats.org/drawingml/2006/main">
            <a:r>
              <a:t>- backend/tests/Feature/Api/V1</a:t>
            </a:r>
          </a:p>
          <a:p xmlns:a="http://schemas.openxmlformats.org/drawingml/2006/main">
            <a:r>
              <a:t>- backend/database/migrations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읽는 순서: users → growing_spaces → growing_seasons. 시즌에서 배치·일정·기록·물주기가 갈라진다.</a:t>
            </a:r>
          </a:p>
          <a:p xmlns:a="http://schemas.openxmlformats.org/drawingml/2006/main">
            <a:r>
              <a:t>배치는 시즌당 하나이며, 셀별 작물은 복합키로 중복 배치를 막는다.</a:t>
            </a:r>
          </a:p>
          <a:p xmlns:a="http://schemas.openxmlformats.org/drawingml/2006/main">
            <a:r>
              <a:t>물주기는 일정과 완료/미루기 이력을 분리해 과거 행동을 보존한다.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backend/database/migrations/*.php</a:t>
            </a:r>
          </a:p>
          <a:p xmlns:a="http://schemas.openxmlformats.org/drawingml/2006/main">
            <a:r>
              <a:t>- docs/presentation/심어봄_백엔드_ERD_2026-08-11.svg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데이터를 현장에서 처음 입력하지 않는다. 회원가입과 공간 등록까지만 새 계정으로 보여주고, 이후는 완성 계정으로 전환할 수 있다.</a:t>
            </a:r>
          </a:p>
          <a:p xmlns:a="http://schemas.openxmlformats.org/drawingml/2006/main">
            <a:r>
              <a:t>시연 직전 API health와 로그인, DB migration 상태를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frontend/app</a:t>
            </a:r>
          </a:p>
          <a:p xmlns:a="http://schemas.openxmlformats.org/drawingml/2006/main">
            <a:r>
              <a:t>- backend/routes/api.php</a:t>
            </a:r>
          </a:p>
          <a:p xmlns:a="http://schemas.openxmlformats.org/drawingml/2006/main">
            <a:r>
              <a:t>- docs/presentation/심어봄_중간발표_발표가이드.txt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문제는 ‘증상–원인–수정–재검증’ 순서로 20초씩 설명한다.</a:t>
            </a:r>
          </a:p>
          <a:p xmlns:a="http://schemas.openxmlformats.org/drawingml/2006/main">
            <a:r>
              <a:t>CSS 문제는 작은 디테일처럼 보였지만 전역 규칙이라는 숨은 결합이 원인이었다는 점을 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frontend/app/globals.css</a:t>
            </a:r>
          </a:p>
          <a:p xmlns:a="http://schemas.openxmlformats.org/drawingml/2006/main">
            <a:r>
              <a:t>- frontend/shared/infrastructure/api-client.ts</a:t>
            </a:r>
          </a:p>
          <a:p xmlns:a="http://schemas.openxmlformats.org/drawingml/2006/main">
            <a:r>
              <a:t>- backend/config/sanctum.php</a:t>
            </a:r>
          </a:p>
          <a:p xmlns:a="http://schemas.openxmlformats.org/drawingml/2006/main">
            <a:r>
              <a:t>- docs/DEVELOPMENT.md</a:t>
            </a:r>
          </a:p>
          <a:p xmlns:a="http://schemas.openxmlformats.org/drawingml/2006/main">
            <a:r>
              <a:t>- git 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날짜 기준 제안 일정이며, 최종 마감일이 다르면 날짜보다 작업 순서를 유지해 조정한다고 말한다.</a:t>
            </a:r>
          </a:p>
          <a:p xmlns:a="http://schemas.openxmlformats.org/drawingml/2006/main">
            <a:r>
              <a:t>닷홈 배포는 PHP 버전, document root, HTTPS, 세션 쿠키, DB 마이그레이션을 체크리스트로 관리한다.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docs/DEPLOYMENT_DOTHOME.md</a:t>
            </a:r>
          </a:p>
          <a:p xmlns:a="http://schemas.openxmlformats.org/drawingml/2006/main">
            <a:r>
              <a:t>- docs/DEVELOPMENT.md</a:t>
            </a:r>
          </a:p>
          <a:p xmlns:a="http://schemas.openxmlformats.org/drawingml/2006/main">
            <a:r>
              <a:t>- 2026-08-11 project status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문장: ‘중간발표 이후에는 기능 추가보다 배포와 품질 검증에 집중하겠습니다.’</a:t>
            </a:r>
          </a:p>
          <a:p xmlns:a="http://schemas.openxmlformats.org/drawingml/2006/main">
            <a:r>
              <a:t>질문이 나오면 ERD, API 수, 테스트 수의 근거가 모두 코드에 있다는 점을 활용한다.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docs/presentation/심어봄_중간발표_발표가이드.txt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425678e9243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64ffbc51b4b5c" /><Relationship Type="http://schemas.openxmlformats.org/officeDocument/2006/relationships/slideLayout" Target="/ppt/slideLayouts/slideLayout1.xml" Id="Rb75230537e3c49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5230537e3c49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bd966dabf4c7e" /><Relationship Type="http://schemas.openxmlformats.org/officeDocument/2006/relationships/notesSlide" Target="/ppt/notesSlides/notesSlide1.xml" Id="R3f214218ffa74b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93d74769c45dd" /><Relationship Type="http://schemas.openxmlformats.org/officeDocument/2006/relationships/notesSlide" Target="/ppt/notesSlides/notesSlide2.xml" Id="R4dc265b7a4a645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fd7f557dc4652" /><Relationship Type="http://schemas.openxmlformats.org/officeDocument/2006/relationships/notesSlide" Target="/ppt/notesSlides/notesSlide3.xml" Id="R38dd2c5bfcf641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5b3e580914dae" /><Relationship Type="http://schemas.openxmlformats.org/officeDocument/2006/relationships/notesSlide" Target="/ppt/notesSlides/notesSlide4.xml" Id="Re63669b146c149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5134086164044" /><Relationship Type="http://schemas.openxmlformats.org/officeDocument/2006/relationships/notesSlide" Target="/ppt/notesSlides/notesSlide5.xml" Id="R62b65f7310c745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76e86657f44d8" /><Relationship Type="http://schemas.openxmlformats.org/officeDocument/2006/relationships/image" Target="/ppt/media/image.png" Id="R976e3f6fc11641ed" /><Relationship Type="http://schemas.openxmlformats.org/officeDocument/2006/relationships/image" Target="/ppt/media/image.svg" Id="Rcaff16c0f99340db" /><Relationship Type="http://schemas.openxmlformats.org/officeDocument/2006/relationships/notesSlide" Target="/ppt/notesSlides/notesSlide6.xml" Id="R4c214ea41d0c43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002ca93294eee" /><Relationship Type="http://schemas.openxmlformats.org/officeDocument/2006/relationships/notesSlide" Target="/ppt/notesSlides/notesSlide7.xml" Id="Rcb16c1d41e2f40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ce091df4342e3" /><Relationship Type="http://schemas.openxmlformats.org/officeDocument/2006/relationships/notesSlide" Target="/ppt/notesSlides/notesSlide8.xml" Id="Rc5686da4fbd44f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b05e858dd4dba" /><Relationship Type="http://schemas.openxmlformats.org/officeDocument/2006/relationships/notesSlide" Target="/ppt/notesSlides/notesSlide9.xml" Id="Rca5e6a5d063c44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c1bd5ba8c4e30" /><Relationship Type="http://schemas.openxmlformats.org/officeDocument/2006/relationships/notesSlide" Target="/ppt/notesSlides/notesSlide10.xml" Id="R95e33716a06749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CCB4B-313C-4156-9E51-37BC8841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9769"/>
          </a:solidFill>
          <a:ln xmlns:a="http://schemas.openxmlformats.org/drawingml/2006/main" w="0">
            <a:solidFill>
              <a:srgbClr val="0C976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6F445-FF43-4B16-834E-B0BC2B4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데이터 융합 웹 개발 프로젝트 · 중간발표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01EBA1-353B-4FA1-8AE2-409817A7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심어봄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6A7F8-F37F-4E20-B1DB-54AEC8FB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85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공간부터 재배 기록까지</a:t>
            </a:r>
          </a:p>
          <a:p xmlns:a="http://schemas.openxmlformats.org/drawingml/2006/main">
            <a:pPr algn="l">
              <a:defRPr sz="31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하나의 흐름으로 연결했습니다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3B899-4E05-47AE-955F-FB8FCDE3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Next.js 16 · Laravel 12 ·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3274D-5680-48EC-BBE0-47C2E212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66800"/>
            <a:ext cx="3333750" cy="4495800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0A5D43"/>
          </a:solidFill>
          <a:ln xmlns:a="http://schemas.openxmlformats.org/drawingml/2006/main" w="9525">
            <a:solidFill>
              <a:srgbClr val="0A5D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AADC8-2946-4570-ACB8-96818E37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428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MIDPOINT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E95BD-78DF-423D-BB3C-9495AF4A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724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D7ED9-F5D3-4F26-B3F7-592BDC24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사용자 여정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프론트–API–DB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B0D99-0D14-42F6-9FAA-E3975E96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434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C54A0-CC6C-458C-97E0-4B636A95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762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2026. 08. 12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9D218-C820-4B8B-B9CA-2D3D1354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팀 심어봄</a:t>
            </a:r>
          </a:p>
        </p:txBody>
      </p:sp>
    </p:spTree>
    <p:extLst>
      <p:ext uri="{BB962C8B-B14F-4D97-AF65-F5344CB8AC3E}">
        <p14:creationId xmlns:p14="http://schemas.microsoft.com/office/powerpoint/2010/main" val="1477114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4AB8D1-9339-4C16-9CC1-564A1D4E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8B721-3381-4649-A2B3-0D543867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중간 결과물은 ‘연결된 서비스’ 단계입니다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5BC20-8116-4630-ABD2-4E7B958F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4B710-C737-47D9-89A1-20B5E66B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A1062-7669-4DF8-ABA6-9F571B78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회원가입 → 공간 → 시즌 → 배치 → 일정·기록·물주기까지 동일한 사용자와 데이터로 이어집니다.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56A39-805B-472D-9DAC-90CB179E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34290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09DA8-F8FB-43D8-938E-2627B5E4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FDC2E-496A-473C-AB80-09C96639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프론트 화면 경로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B647F-D579-48B3-B22C-4A2021A0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Next.js App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8856F-1484-4DE0-9FF1-8DA1BEB0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4290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A5D43"/>
          </a:solidFill>
          <a:ln xmlns:a="http://schemas.openxmlformats.org/drawingml/2006/main" w="9525">
            <a:solidFill>
              <a:srgbClr val="0A5D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21717-09F7-4589-B090-3DDCB586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8C700-6D0B-4162-A363-AF6F41C5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Laravel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2399B-F490-4C34-B232-6C749D94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7D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FE7DD"/>
                </a:solidFill>
                <a:latin typeface="Malgun Gothic"/>
                <a:ea typeface="Malgun Gothic"/>
                <a:cs typeface="Malgun Gothic"/>
              </a:rPr>
              <a:t>api/v1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47D94-B054-4437-BCD9-6DC404DF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33600"/>
            <a:ext cx="34290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A5916-248E-46DA-9FE7-9C99E0A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28956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F774D-526E-4F75-957C-01D39818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서비스 도메인 테이블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40264-D2A4-4F13-8267-54705731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프레임워크 테이블 제외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F32F1-188A-4FEC-8D05-6EE102FF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08966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5C9CF-033D-4EEE-8181-B479CA9E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검증 결과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67FF31-6B16-4CE4-87DC-D22FC0F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프론트 105개 + 백엔드 89개 = 자동화 테스트 194개 통과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3673E-5EFB-4FE4-ADFA-150E070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3875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1FACD-B7B4-49AB-ABB0-3F2907A2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578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백엔드 634 assertions</a:t>
            </a:r>
          </a:p>
        </p:txBody>
      </p:sp>
    </p:spTree>
    <p:extLst>
      <p:ext uri="{BB962C8B-B14F-4D97-AF65-F5344CB8AC3E}">
        <p14:creationId xmlns:p14="http://schemas.microsoft.com/office/powerpoint/2010/main" val="1308053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E5AF99-66BB-45B4-ADD8-7AB19E98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44C16-1982-4084-80A1-9381B0A3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화면·업무 규칙·데이터 책임을 분리했습니다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DF3D1-AFE1-44B3-A3EB-943B5572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616AF-A43A-4246-A46D-F3FF3C5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D2614-EBDB-4595-B70F-B68CE97B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14325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E16DF-F1A2-4647-B373-25C77AF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EE062-37FF-48D4-80DD-C61E9BA1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23921-3702-40AA-AD6B-B204A96B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Next.js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92BD6-1039-45B8-A6A5-BF232CF0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화면·입력 검증</a:t>
            </a:r>
          </a:p>
          <a:p xmlns:a="http://schemas.openxmlformats.org/drawingml/2006/main">
            <a:pPr algn="l">
              <a:def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API client·상태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95EEE0-5F1C-4797-ABCC-44C4BEC2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FC3BC-D759-4C0C-9A35-FCCBC00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18 routes · TS strict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99E54-D48C-4514-AE74-CCF6D062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14325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8DFA6-8F78-496A-BBEC-642ABA8F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FFF0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11238-8221-452B-AC7F-DC24197E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145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65943-0870-421E-9B78-2320AD8A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Laravel 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4EA1C-0B48-4C4E-A9BF-1B90EE84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인증·권한·업무 규칙</a:t>
            </a:r>
          </a:p>
          <a:p xmlns:a="http://schemas.openxmlformats.org/drawingml/2006/main">
            <a:pPr algn="l">
              <a:def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버전 충돌·오류 계약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B8B83-708E-4D8E-B4BE-069E4D19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243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9117C-3484-4519-AEA3-12246CD0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958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44 APIs · Sanctum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6B3B5-EC89-4802-8774-DFC14C32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314325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62299-53C1-4266-A513-24990A49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F1"/>
          </a:solidFill>
          <a:ln xmlns:a="http://schemas.openxmlformats.org/drawingml/2006/main" w="9525">
            <a:solidFill>
              <a:srgbClr val="DFF2F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B070F-B275-4385-B7E6-1C85713C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AA3A1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4AA3A1"/>
                </a:solidFill>
                <a:latin typeface="Malgun Gothic"/>
                <a:ea typeface="Malgun Gothic"/>
                <a:cs typeface="Malgun Gothic"/>
              </a:rPr>
              <a:t>DATABASE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354EF-8976-46C0-98E5-CD767A40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90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5944E2-639E-441B-ACB8-EC6C3186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264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사용자별 영속 데이터</a:t>
            </a:r>
          </a:p>
          <a:p xmlns:a="http://schemas.openxmlformats.org/drawingml/2006/main">
            <a:pPr algn="l">
              <a:def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관계·제약·이력 보존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F15C3C-A5DB-4BF3-8098-FF84BDB3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24350"/>
            <a:ext cx="2686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94BAE5-6B41-4FBD-BDDD-E2AE6357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A3A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AA3A1"/>
                </a:solidFill>
                <a:latin typeface="Malgun Gothic"/>
                <a:ea typeface="Malgun Gothic"/>
                <a:cs typeface="Malgun Gothic"/>
              </a:rPr>
              <a:t>12 domain tables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1B34BC-E546-4574-85CD-F7B88253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670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B71C56-0EAC-43A0-BF61-21909511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670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3A462-1DD4-4C63-A128-A150571F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4965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5D43"/>
          </a:solidFill>
          <a:ln xmlns:a="http://schemas.openxmlformats.org/drawingml/2006/main" w="9525">
            <a:solidFill>
              <a:srgbClr val="0A5D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22EC5-1272-4B0F-8AC1-A4A6B6A5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개발: Laragon / localhost     협업: GitHub feature → develop     배포 준비: 환경변수·마이그레이션 SSOT</a:t>
            </a:r>
          </a:p>
        </p:txBody>
      </p:sp>
    </p:spTree>
    <p:extLst>
      <p:ext uri="{BB962C8B-B14F-4D97-AF65-F5344CB8AC3E}">
        <p14:creationId xmlns:p14="http://schemas.microsoft.com/office/powerpoint/2010/main" val="46607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64A713-0080-47FF-BB87-C64E7B8A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E5425-96EF-41E2-9F8D-48EC6E81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프론트는 핵심 사용자 흐름과 상태 표현을 구현했습니다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BC87E-AC74-49D8-A1BC-4294BFF7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3D8AF-75A0-47BA-89E3-04013C08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CE201-283F-4FDE-8890-5853B419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552700" cy="27241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6D160-67A3-4DF2-BAAA-8DCD0EFF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2AEAD-12EE-4586-9101-17DA87BE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가입·로그인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F0266-8C97-437A-90CE-6A517362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이메일 중복 확인</a:t>
            </a:r>
          </a:p>
          <a:p xmlns:a="http://schemas.openxmlformats.org/drawingml/2006/main">
            <a:pPr algn="l">
              <a:def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비밀번호 규칙·자동 로그인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14980-D91C-4FC0-AA79-D3D28F1D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AFE8D-1729-4DBA-8162-59517F61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8E800-E915-48A3-9A1D-3D88A5AE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552700" cy="27241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E613B-9FF7-4480-BBFB-8AA6FCC4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7F94D-379C-40C8-9FAA-A22544C4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공간·시즌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A2762-11AC-440B-AC5E-2AF45B82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등록·수정·삭제</a:t>
            </a:r>
          </a:p>
          <a:p xmlns:a="http://schemas.openxmlformats.org/drawingml/2006/main">
            <a:pPr algn="l">
              <a:def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겹치는 시즌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1D20A-FC41-4460-947A-FDD75029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06EFE-8175-4304-BF50-E4FD2733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57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C21AF-3AB1-48E0-A717-2DDC6B6D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552700" cy="27241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545092-D015-4B81-9461-EA603971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002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F027E-9168-4DDE-88FF-46255A1D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배치·관리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52043-4B1E-4333-92FF-E6C63176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격자 배치·포기 수</a:t>
            </a:r>
          </a:p>
          <a:p xmlns:a="http://schemas.openxmlformats.org/drawingml/2006/main">
            <a:pPr algn="l">
              <a:def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일정·기록·물주기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C53A03-0EE0-472D-9CF6-6095594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4F05B-4B69-43DC-BB52-01597242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57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2B6EFA-42B1-4B79-BBE0-C98BB600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552700" cy="27241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6C0573-5E80-4425-A32C-CF73CD8C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0CB1B-895A-4857-89A9-4B966FEF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대시보드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6A6D74-5A8A-47C1-8849-BCCF304F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오늘 할 일·요약</a:t>
            </a:r>
          </a:p>
          <a:p xmlns:a="http://schemas.openxmlformats.org/drawingml/2006/main">
            <a:pPr algn="l">
              <a:def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빈 상태·오류 상태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9519A-2569-4C40-8C2E-5E150E50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38600"/>
            <a:ext cx="704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5063A-5F25-4DFD-BFA0-59754A9F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576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51EC8-DD5B-4B5B-8E33-426DA957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5334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5D43"/>
          </a:solidFill>
          <a:ln xmlns:a="http://schemas.openxmlformats.org/drawingml/2006/main" w="9525">
            <a:solidFill>
              <a:srgbClr val="0A5D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276CF7-0E10-4C52-A479-28ED465C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683537-446F-4753-A012-F771E9C0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TypeScript 타입 검사 · ESLint · 105 tests 통과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BACA9E-281F-42BE-937C-DF7D6F6C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55626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FFF0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9F6A2A-5FE1-4CAD-ABD8-030677EF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054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8620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A86200"/>
                </a:solidFill>
                <a:latin typeface="Malgun Gothic"/>
                <a:ea typeface="Malgun Gothic"/>
                <a:cs typeface="Malgun Gothic"/>
              </a:rPr>
              <a:t>다음 보완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746C4C-2C20-4D05-A96B-B79917B9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10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모바일 반응형 · 접근성 · 실제 브라우저 회귀 테스트</a:t>
            </a:r>
          </a:p>
        </p:txBody>
      </p:sp>
    </p:spTree>
    <p:extLst>
      <p:ext uri="{BB962C8B-B14F-4D97-AF65-F5344CB8AC3E}">
        <p14:creationId xmlns:p14="http://schemas.microsoft.com/office/powerpoint/2010/main" val="1427399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F6E620-8FC4-4EE7-B549-75FA4123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092D0-60AF-436A-BFAB-21128B0B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백엔드는 8개 업무 영역의 API와 제약을 구현했습니다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ADE02-7497-42EF-A783-3715228F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9EA7E-2AFA-42C2-A359-C16B893C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CFAAA-C1F2-41B5-97D3-E8F90866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552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41B6B-D636-44F1-9B7C-B129836A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D9E44-960C-441A-9589-D7674335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FF3BE-FBFF-4AFD-8ECF-27821A99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050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인증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538BF-CACA-429B-8951-B1052D88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76400"/>
            <a:ext cx="2552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D75D9-233E-495B-9A84-A337B017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6C7A0-6BCD-4697-A9F0-5B45FE24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764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506CC-E2DB-4104-B907-D1215D33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작물 기준정보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23554-F638-427B-8C02-9997027A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552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CCFC3-D968-49D5-8234-DAA60C54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859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77A02-1F2E-4BCC-ABA0-4FE8CD06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79B7B-022E-4DC5-9DA8-5C54C0C9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050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재배 공간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7AC23-EDB4-4B8D-8A93-FF5DB838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76400"/>
            <a:ext cx="2552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EF84F-6CA0-4E54-81E4-34C5E959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859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CA266-9E12-4CE5-9F06-97A12641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764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1572F-D3A5-49ED-82FC-5BE9A8A7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0500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재배 시즌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F64E5D-B81B-4BEA-84D3-0CE4176F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2552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5B927-D99B-48E0-A2CF-D0708344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1E9"/>
          </a:solidFill>
          <a:ln xmlns:a="http://schemas.openxmlformats.org/drawingml/2006/main" w="9525">
            <a:solidFill>
              <a:srgbClr val="DFF1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9176B-8876-4BB6-BA22-0EC49B14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3DF55-22E1-43C9-9970-277D520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텃밭 배치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0DC17-EA0E-4BCD-9C35-D77A4E86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2552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92963F-8760-44BC-90B0-D49BD447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FFF0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57C30-D31B-4A42-978D-6E388564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0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62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86200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6C81A0-9A78-4BDD-9C23-F8E3C35A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재배 일정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B12349-7F7C-4967-AA7C-2F3BEC49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2552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2DD55-A48B-418B-AC9D-9D099B7F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FFF0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4CCE83-0BEB-4E16-83F2-851897E8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62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86200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5AFECB-8F31-4C03-A861-4CCFE32D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재배 기록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99243F-8166-43F2-8525-5B56D486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2552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6B4403-4459-4D37-9F33-0273A196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99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FFF0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06DD0D-774B-41BC-B6F7-ED077C1D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862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86200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9266F4-958E-45A6-92CA-444EB46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89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물주기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B5D68E-D1E3-4BA1-842B-A41BD9FA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0896600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A5D43"/>
          </a:solidFill>
          <a:ln xmlns:a="http://schemas.openxmlformats.org/drawingml/2006/main" w="9525">
            <a:solidFill>
              <a:srgbClr val="0A5D4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65F5DE-6523-49FE-B6E4-F97B3CAC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세션 인증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25F3F2-AE33-4EA0-AB5D-B33CE452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Sanctum + CSRF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077CF3-5DA2-4C70-893B-449DCEF6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00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데이터 무결성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775253-42EE-401C-960B-4A6E4755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81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FK · UK · 범위 검증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E0F587-9BD9-45D9-9B67-F89983A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400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동시 수정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BBCBA2-D94E-4991-989E-B4825DEE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81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version + If-Match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BCBA50-BC99-481A-9F38-C448BCFE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00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9C3CBF-45C7-4DFF-98F0-F914B60F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7815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52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89 tests · 634 assertions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1421ED-47A4-4E78-937B-BF6B7115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E7D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FE7DD"/>
                </a:solidFill>
                <a:latin typeface="Malgun Gothic"/>
                <a:ea typeface="Malgun Gothic"/>
                <a:cs typeface="Malgun Gothic"/>
              </a:rPr>
              <a:t>마이그레이션을 DB 구조의 단일 기준(SSOT)으로 사용</a:t>
            </a:r>
          </a:p>
        </p:txBody>
      </p:sp>
    </p:spTree>
    <p:extLst>
      <p:ext uri="{BB962C8B-B14F-4D97-AF65-F5344CB8AC3E}">
        <p14:creationId xmlns:p14="http://schemas.microsoft.com/office/powerpoint/2010/main" val="1791075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35CA0-1B07-4996-B5FF-FFEEDCCF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BACKEND ERD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078C0-EFB0-4A83-9310-FB7937BB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사용자–공간–시즌을 중심으로 관리 이력을 연결했습니다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A9535-A10E-42BD-B6DA-D76C4A19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1D3B-EBEA-474F-88A2-BC37D06C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e3f6fc11641ed">
            <a:extLst>
              <a:ext uri="{96DAC541-7B7A-43D3-8B79-37D633B846F1}">
                <asvg:svgBlip xmlns:asvg="http://schemas.microsoft.com/office/drawing/2016/SVG/main" r:embed="Rcaff16c0f99340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1000" y="1333500"/>
            <a:ext cx="11430000" cy="4895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4949B-2FA7-41A5-B03B-C395B53E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※ Laravel 내부 관리용 cache · jobs · sessions · personal_access_tokens 테이블은 가독성을 위해 생략</a:t>
            </a:r>
          </a:p>
        </p:txBody>
      </p:sp>
    </p:spTree>
    <p:extLst>
      <p:ext uri="{BB962C8B-B14F-4D97-AF65-F5344CB8AC3E}">
        <p14:creationId xmlns:p14="http://schemas.microsoft.com/office/powerpoint/2010/main" val="14885344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6AADBC-24E2-4C8A-AD7A-D81855D9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47195-16B2-44CC-BD3D-C0E64677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6분 안에 하나의 재배 흐름을 완주합니다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AFD43-EBBB-47A0-B3A1-0DAD6BB9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D5438-E2A7-4469-92D6-4050F85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204F7-1D9A-4CE7-9FF1-69C214BF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552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D9297-63C9-4D34-A778-26D1903D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367DF-73B2-490F-BE37-B56633FC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1C027-C2A9-4D40-BA6B-AFCA231D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검증 + 자동 로그인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AC535-D948-4F95-A48B-66A29A6D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76400"/>
            <a:ext cx="2552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4DCDC-AC38-4C2E-BC11-E48AD97E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288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0:45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B6C79-241E-416D-97BA-35559A4A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공간 등록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4C13E-2E0F-4871-8039-BA0BE0CF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527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크기·환경 입력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E194C-1963-4D73-8780-B28627BA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552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6943C-4C39-4B5F-A027-DF7407F4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1:30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DA7FE-AB28-48FE-BA63-6C5EC172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시즌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0CAD7-FB7C-4B4D-9A7C-1156677F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527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기간·대표 작물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3E0AB-0FE7-47BD-A9F7-8BC8CBDF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76400"/>
            <a:ext cx="2552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0A5D43"/>
          </a:solidFill>
          <a:ln xmlns:a="http://schemas.openxmlformats.org/drawingml/2006/main" w="9525">
            <a:solidFill>
              <a:srgbClr val="0A5D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9D359-AC10-470E-8C24-009C6698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288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2:10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2ED9C-7078-44C8-A821-EDA6F99A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작물 배치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AF342-29E8-449D-AF54-C584EA15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7D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CFE7DD"/>
                </a:solidFill>
                <a:latin typeface="Malgun Gothic"/>
                <a:ea typeface="Malgun Gothic"/>
                <a:cs typeface="Malgun Gothic"/>
              </a:rPr>
              <a:t>격자·포기 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A91B2-5A82-4630-AF42-2D8BE0CF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2552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8B3CDE-3FFD-4023-9716-322904F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3:10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8A7EB-DA0F-4ECB-B37F-858032DB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일정 생성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71FB2-C398-4706-A0B3-A99BBB21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완료 상태 변경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DA189-2822-4CBE-8FEB-F478C964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2552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882C6-EA87-4FA2-9A9B-B72D3F25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671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4:10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3ABC0B-07A6-4AE8-8CD0-BCFDBBF0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71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물주기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38905-CF96-41C2-8074-F56D37A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91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완료·미루기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ABE75D-679C-44B2-86CB-65623EF5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552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0C9679-1B5E-4254-9C23-4C7D14E5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5:05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DD50A6-206E-4A9B-BE52-51A1DCC6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재배 기록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F6F22A-0902-4218-9EF8-E1BCB900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저장 후 홈 반영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F4DFD6-0336-471C-9F1B-A88963B2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14700"/>
            <a:ext cx="2552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FFF0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EA5352-A256-408A-8F12-5F1F7F3F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2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A86200"/>
                </a:solidFill>
                <a:latin typeface="Malgun Gothic"/>
                <a:ea typeface="Malgun Gothic"/>
                <a:cs typeface="Malgun Gothic"/>
              </a:rPr>
              <a:t>백업 계정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B29191-D540-40EC-B3E3-86C77AFE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완성 데이터로</a:t>
            </a:r>
          </a:p>
          <a:p xmlns:a="http://schemas.openxmlformats.org/drawingml/2006/main">
            <a:pPr algn="l">
              <a:defRPr sz="15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대시보드 확인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BD6848-95DF-40D3-8F11-CDD307F3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8966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FF2F1"/>
          </a:solidFill>
          <a:ln xmlns:a="http://schemas.openxmlformats.org/drawingml/2006/main" w="9525">
            <a:solidFill>
              <a:srgbClr val="DFF2F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3A4F63-9C59-4CC9-B690-4514EB44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A3A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AA3A1"/>
                </a:solidFill>
                <a:latin typeface="Malgun Gothic"/>
                <a:ea typeface="Malgun Gothic"/>
                <a:cs typeface="Malgun Gothic"/>
              </a:rPr>
              <a:t>시연 안전장치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700C4C-6087-4A71-8A39-DF6238F1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서버 8000 / 프론트 3000 고정 · 새 계정 + 완성 계정 2개 · 화면 캡처 백업</a:t>
            </a:r>
          </a:p>
        </p:txBody>
      </p:sp>
    </p:spTree>
    <p:extLst>
      <p:ext uri="{BB962C8B-B14F-4D97-AF65-F5344CB8AC3E}">
        <p14:creationId xmlns:p14="http://schemas.microsoft.com/office/powerpoint/2010/main" val="1709614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6021A4-C882-4456-8594-26CDBC3F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PROBLEM →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A74E4-33E2-4366-8B7E-65E780D3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문제는 경계와 기준을 명확히 하며 해결했습니다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600BE-6153-49C6-9B53-7557A76D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5D6CD-BD98-4E35-B577-8DB72EA2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DD6A4-F8EC-4308-8C7F-6EA35E56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4A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4A3A"/>
                </a:solidFill>
                <a:latin typeface="Malgun Gothic"/>
                <a:ea typeface="Malgun Gothic"/>
                <a:cs typeface="Malgun Gothic"/>
              </a:rPr>
              <a:t>발생한 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F43DD-8550-44FA-8624-51675306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85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해결 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7DE44-752A-4C0E-A756-69DA2CE2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85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A3A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4AA3A1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4F1A8-B73F-4667-B1EB-F176DB7A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0896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E60EE-40CB-49CD-9ED3-9A08D5E1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로컬 저장소라 팀 데이터가 달라짐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8CB13-C17E-4176-A931-CB34111D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193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71797-4822-4569-90C0-82548FB9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Laravel API + MySQL + migrations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BDD6B-61CB-44E3-AB59-6272ED4B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E39EE-7247-460E-A295-09D3F5E9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공동 데이터 구조 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0B0CA-8252-4D81-A537-7370E81C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0896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F4F0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6566F-9508-4FF8-BADD-162AEEE8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Sanctum 세션·포트 불일치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E266C-AC91-4412-9228-76398386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99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7B172-FFB2-4501-80B1-5D36B378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3000/8000 고정 + stateful 설정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1555A-04FA-4E1B-B94E-8B5569DF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2BFB0E-AFEF-419C-8F26-9FC0F773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가입 직후 세션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B77134-3214-4A41-BF96-C0AC47D2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0896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22AD0-FDB8-42DB-B5F9-D2851FA0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전역 링크 CSS가 버튼 색을 덮음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0211E-F2CA-4BBB-B793-A2793505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296EA0-4C37-4334-9D48-6CA66894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Tailwind base 계층 + 버튼 색 명시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8A2F3-096F-4AFD-8519-59A56F5F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B079D-7E9F-49C7-9BCB-A9DEA351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814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초록 버튼 흰 글자 통일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3D8E3-902C-4063-ADEF-58E85ECF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10896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F4F0"/>
          </a:solidFill>
          <a:ln xmlns:a="http://schemas.openxmlformats.org/drawingml/2006/main" w="9525">
            <a:solidFill>
              <a:srgbClr val="D7E1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BD065-D72F-4947-A58C-FC3F7F0A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3067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브랜치 삭제·작업 기준 혼선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AD49C-8913-4D00-A7D7-D2B1EBE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911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D2DCD-412E-4F26-B2CC-F58EC7D1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72050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팀원 브랜치 보호 + 기능 브랜치 규칙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D6BB8A-92EA-4598-8586-522BF8E6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911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5E2A56-A2B8-43B1-9FD1-18DC7123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720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병합 단위와 책임 명확화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CDF630-61D7-4884-B482-F580F4CF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공통 원칙: 오류를 숨기지 않고, DB·API·UI 각각의 책임 경계에서 처리</a:t>
            </a:r>
          </a:p>
        </p:txBody>
      </p:sp>
    </p:spTree>
    <p:extLst>
      <p:ext uri="{BB962C8B-B14F-4D97-AF65-F5344CB8AC3E}">
        <p14:creationId xmlns:p14="http://schemas.microsoft.com/office/powerpoint/2010/main" val="11938452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100D8E-0A20-479C-A7C8-B6C988C6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C9769"/>
                </a:solidFill>
                <a:latin typeface="Malgun Gothic"/>
                <a:ea typeface="Malgun Gothic"/>
                <a:cs typeface="Malgun Gothic"/>
              </a:rPr>
              <a:t>NEXT SCHEDULE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70635-119B-4730-A7D0-8B5EC4F9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중간발표 이후의 제안 일정입니다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F3D48-D19F-4426-9DAA-C6684E7E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021C6-0F89-4CC7-A316-BCA88277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E0B7A9-11E5-4602-AE06-F2988EC7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611F3-E66E-42B8-A2FB-2CD5DC36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6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8/13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2279A-370B-42A8-ADD8-38970956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66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8/15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4D7659-137D-4752-B588-CBFAF72D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66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8/18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0E38E2-4E25-47C5-9CE5-ECB99D87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66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8/21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38E48-FCD0-4A29-AED6-B26CAB19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66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8/24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F9313-600A-40DB-B7B7-1101BC27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4668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8/26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D1A36-857D-4091-80F6-6BE5D27F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중간발표·피드백 반영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7574D-8482-4EB2-A952-92CFE0E1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7CA68-3403-4736-BA81-BBEC17FF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1009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2D083-659D-4AB5-8920-342364BA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핵심 흐름 E2E 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4F191-9F9C-4BAA-AE4A-395AEEAA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53E244-B425-493C-A8E4-8B52BA67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52700"/>
            <a:ext cx="2114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9769"/>
          </a:solidFill>
          <a:ln xmlns:a="http://schemas.openxmlformats.org/drawingml/2006/main" w="9525">
            <a:solidFill>
              <a:srgbClr val="0C97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C29B6-772E-4E19-BEAA-DAC8D729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계정·권한 보완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721C9-FDFC-4533-BADB-B592F435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DD73C4-70F6-478B-BB93-BF8FC43E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19450"/>
            <a:ext cx="2114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A3A1"/>
          </a:solidFill>
          <a:ln xmlns:a="http://schemas.openxmlformats.org/drawingml/2006/main" w="9525">
            <a:solidFill>
              <a:srgbClr val="4AA3A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20CFC-3DB8-4B0A-8C71-304B86B6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닷홈 배포·운영 환경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8E663-31F7-4FAB-9C6B-33E6C81E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3D78A3-8D52-4AC8-B6BE-CB1804F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2114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5D43"/>
          </a:solidFill>
          <a:ln xmlns:a="http://schemas.openxmlformats.org/drawingml/2006/main" w="9525">
            <a:solidFill>
              <a:srgbClr val="0A5D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1038DC-177F-4B1C-9064-4CA3A40E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반응형·접근성·성능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571E64-D390-492A-9CA5-4AD4C636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291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A29627-0A23-4BB1-82A0-51664A7E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2114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9525">
            <a:solidFill>
              <a:srgbClr val="F2A9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32C63E-C38C-45AA-9FE9-17DC45F6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회귀 테스트·최종 시연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37EE48-2403-4160-86A3-E1066343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959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DC"/>
          </a:solidFill>
          <a:ln xmlns:a="http://schemas.openxmlformats.org/drawingml/2006/main" w="0">
            <a:solidFill>
              <a:srgbClr val="D7E1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AA97D5-50C7-4603-BF55-72E26983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2114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A3A1"/>
          </a:solidFill>
          <a:ln xmlns:a="http://schemas.openxmlformats.org/drawingml/2006/main" w="9525">
            <a:solidFill>
              <a:srgbClr val="4AA3A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AB72EE-E96D-4976-81B7-A8D2454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8966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FFF0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F52953-6201-4FFF-AA0C-93D9B745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1045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E24"/>
                </a:solidFill>
                <a:latin typeface="Malgun Gothic"/>
                <a:ea typeface="Malgun Gothic"/>
                <a:cs typeface="Malgun Gothic"/>
              </a:rPr>
              <a:t>일정은 발표 피드백과 실제 최종 발표일에 맞춰 팀 회의에서 확정</a:t>
            </a:r>
          </a:p>
        </p:txBody>
      </p:sp>
    </p:spTree>
    <p:extLst>
      <p:ext uri="{BB962C8B-B14F-4D97-AF65-F5344CB8AC3E}">
        <p14:creationId xmlns:p14="http://schemas.microsoft.com/office/powerpoint/2010/main" val="53353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5D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C3FA6-A820-4741-A620-CD0A25C1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MIDPOINT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63B51-43B5-4581-818A-8D578A9B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28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흐름은 연결됐고,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이제 운영 가능한 품질로 다듬습니다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8615F-5150-496C-9C03-C7B93416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D6B"/>
          </a:solidFill>
          <a:ln xmlns:a="http://schemas.openxmlformats.org/drawingml/2006/main" w="0">
            <a:solidFill>
              <a:srgbClr val="4A7D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9465C-8382-4CD4-BBDA-E09B2176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현재 확보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772B7-8659-4687-BD9C-B81A5B58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프론트–API–DB 연결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업무 제약과 테스트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디자인 언어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DF7F7-8DA4-45F6-81A8-6E8FEC1B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다음 완료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50675-39CC-47C7-B65B-C883CC5D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3810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배포 환경에서 동일 동작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모바일·접근성 검증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최종 시연 무중단 완주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A1A27-5127-47E6-9097-AD5FC30F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9000"/>
            <a:ext cx="2476500" cy="180975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3AE32-5771-4236-9FF6-C330B724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957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0A5D43"/>
                </a:solidFill>
                <a:latin typeface="Malgun Gothic"/>
                <a:ea typeface="Malgun Gothic"/>
                <a:cs typeface="Malgun Gothic"/>
              </a:rPr>
              <a:t>Q&amp;A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2A593-BC5F-414B-AC20-2D1A0E6D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76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0736B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333FE-2C02-4516-949E-A6F65639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7D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CFE7DD"/>
                </a:solidFill>
                <a:latin typeface="Malgun Gothic"/>
                <a:ea typeface="Malgun Gothic"/>
                <a:cs typeface="Malgun Gothic"/>
              </a:rPr>
              <a:t>심어봄 · 2026.08.12</a:t>
            </a:r>
          </a:p>
        </p:txBody>
      </p:sp>
    </p:spTree>
    <p:extLst>
      <p:ext uri="{BB962C8B-B14F-4D97-AF65-F5344CB8AC3E}">
        <p14:creationId xmlns:p14="http://schemas.microsoft.com/office/powerpoint/2010/main" val="1448171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2026-08-11T06:55:05.1210000Z</dcterms:created>
  <dcterms:modified xsi:type="dcterms:W3CDTF">2026-08-11T06:55:05.1210000Z</dcterms:modified>
</coreProperties>
</file>